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gVuPQPSQjh3EUL4VEERrkNEIAW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52C888-B50F-4CA0-ABB5-29482900B6CD}">
  <a:tblStyle styleId="{B652C888-B50F-4CA0-ABB5-29482900B6C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SemiBold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a6d27de2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fa6d27de26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a6d27de2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fa6d27de26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11" Type="http://schemas.openxmlformats.org/officeDocument/2006/relationships/image" Target="../media/image13.png"/><Relationship Id="rId10" Type="http://schemas.openxmlformats.org/officeDocument/2006/relationships/image" Target="../media/image9.png"/><Relationship Id="rId9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11" Type="http://schemas.openxmlformats.org/officeDocument/2006/relationships/image" Target="../media/image15.png"/><Relationship Id="rId10" Type="http://schemas.openxmlformats.org/officeDocument/2006/relationships/image" Target="../media/image16.png"/><Relationship Id="rId12" Type="http://schemas.openxmlformats.org/officeDocument/2006/relationships/image" Target="../media/image21.png"/><Relationship Id="rId9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4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915602" y="2659409"/>
            <a:ext cx="636079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StreamView Analytics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4314825" y="4389090"/>
            <a:ext cx="356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Integrantes: </a:t>
            </a:r>
            <a:r>
              <a:rPr lang="en-US" sz="12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Fabián Parraguez |</a:t>
            </a: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Tabatha Gamboa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Visualización de d</a:t>
            </a: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6968"/>
            <a:ext cx="5357812" cy="2719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2416968"/>
            <a:ext cx="5357812" cy="2719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8912" y="3788568"/>
            <a:ext cx="4805362" cy="107156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/>
        </p:nvSpPr>
        <p:spPr>
          <a:xfrm>
            <a:off x="847725" y="2693193"/>
            <a:ext cx="50456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Contexto Organizacional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847725" y="3055143"/>
            <a:ext cx="4805362" cy="190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847725" y="3188493"/>
            <a:ext cx="48053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StreamView Analytics mantiene un crecimiento sostenido de catálogo pero enfrenta fragmentación de reportes entre áreas operativas: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6538912" y="2693193"/>
            <a:ext cx="50456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Premisa de Decisiones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538912" y="3055143"/>
            <a:ext cx="4805362" cy="190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538912" y="3188493"/>
            <a:ext cx="48053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toma de decisiones de adquisición y promoción opera con evidencia parcial o sesgada.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038225" y="3759993"/>
            <a:ext cx="46148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Múltiples versiones e interpretaciones de un mismo KPI.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038225" y="4083843"/>
            <a:ext cx="46148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Dificultad para identificar tendencias transversales.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038225" y="4407693"/>
            <a:ext cx="46148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Baja trazabilidad sobre criterios de cálculo de métricas.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6786562" y="3960018"/>
            <a:ext cx="4348162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75" u="none" cap="none" strike="noStrike">
                <a:solidFill>
                  <a:srgbClr val="0369A1"/>
                </a:solidFill>
                <a:latin typeface="Lato"/>
                <a:ea typeface="Lato"/>
                <a:cs typeface="Lato"/>
                <a:sym typeface="Lato"/>
              </a:rPr>
              <a:t>"StreamView Analytics crece en volumen de contenidos, pero no en velocidad de decisión. El problema no es falta de datos, sino falta de una lectura común y accionable del catálogo."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847725" y="3740943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847725" y="4064793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847725" y="4388643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571500" y="476250"/>
            <a:ext cx="1160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Problema de Negocio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5550"/>
            <a:ext cx="35433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4350" y="2495550"/>
            <a:ext cx="35433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7200" y="2495550"/>
            <a:ext cx="35433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7336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809625" y="3409950"/>
            <a:ext cx="32204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Directorio &amp; Gerencia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809625" y="3790950"/>
            <a:ext cx="30670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Requieren visión global con números consolidados para decisiones estratégicas de inversión, expansión y evaluación de catálogo a largo plazo.</a:t>
            </a:r>
            <a:endParaRPr/>
          </a:p>
        </p:txBody>
      </p:sp>
      <p:pic>
        <p:nvPicPr>
          <p:cNvPr descr="image.png" id="120" name="Google Shape;120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2475" y="27336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4562475" y="3409950"/>
            <a:ext cx="32204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Contenidos &amp; Marketing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4562475" y="3790950"/>
            <a:ext cx="30670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Analizan géneros y desempeño para comprar/renovar títulos clave y diseñar campañas promocionales efectivas orientadas al consumo.</a:t>
            </a:r>
            <a:endParaRPr/>
          </a:p>
        </p:txBody>
      </p:sp>
      <p:pic>
        <p:nvPicPr>
          <p:cNvPr descr="image.png" id="123" name="Google Shape;123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5325" y="27336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/>
          <p:nvPr/>
        </p:nvSpPr>
        <p:spPr>
          <a:xfrm>
            <a:off x="8315325" y="3409950"/>
            <a:ext cx="32204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Producto &amp; Data Team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8315325" y="3790950"/>
            <a:ext cx="3067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Optimizan navegación y categorías en plataforma mientras definen e implementan indicadores unificados y confiables.</a:t>
            </a:r>
            <a:endParaRPr/>
          </a:p>
        </p:txBody>
      </p:sp>
      <p:pic>
        <p:nvPicPr>
          <p:cNvPr descr="image.png" id="126" name="Google Shape;126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3925" y="28479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76775" y="28479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/>
        </p:nvSpPr>
        <p:spPr>
          <a:xfrm>
            <a:off x="571500" y="476250"/>
            <a:ext cx="1160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Audiencias Objetivo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5087"/>
            <a:ext cx="5357812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2605087"/>
            <a:ext cx="5357812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847725" y="2881312"/>
            <a:ext cx="5045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 General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847725" y="3243262"/>
            <a:ext cx="4805362" cy="190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847725" y="3376612"/>
            <a:ext cx="48054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Diseñar una solución integral de </a:t>
            </a:r>
            <a:r>
              <a:rPr b="1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Visual Analytics</a:t>
            </a:r>
            <a:r>
              <a:rPr b="0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que comunique información estratégica del catálogo audiovisual para respaldar la toma de decisiones basada en datos en StreamView Analytics.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6538912" y="2881312"/>
            <a:ext cx="50456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Específicos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6538912" y="3243262"/>
            <a:ext cx="4805362" cy="190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6729412" y="3376612"/>
            <a:ext cx="46148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Caracterizar catálogo por tipo, país, género, idioma y año.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6729412" y="3700462"/>
            <a:ext cx="46148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Evaluar engagement mediante popularidad, votos y valoración.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6729412" y="4024312"/>
            <a:ext cx="46148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Incorporar análisis financiero de películas (Presupuesto vs ROI).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6729412" y="4348162"/>
            <a:ext cx="46148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Construir un dashboard interactivo de baja carga cognitiva.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6538912" y="33575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6538912" y="36814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6538912" y="40052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6538912" y="43291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571500" y="476250"/>
            <a:ext cx="1160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5550"/>
            <a:ext cx="35433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4350" y="2495550"/>
            <a:ext cx="35433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7200" y="2495550"/>
            <a:ext cx="35433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7336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 txBox="1"/>
          <p:nvPr/>
        </p:nvSpPr>
        <p:spPr>
          <a:xfrm>
            <a:off x="809625" y="3409950"/>
            <a:ext cx="32204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Fuentes (~32K Títulos)</a:t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809625" y="3790950"/>
            <a:ext cx="30670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Integración de datasets detallados de Películas (~16k) y Series (~16k). Traducción, homologación de esquemas y normalización de campos clave.</a:t>
            </a:r>
            <a:endParaRPr/>
          </a:p>
        </p:txBody>
      </p:sp>
      <p:pic>
        <p:nvPicPr>
          <p:cNvPr descr="image.png" id="161" name="Google Shape;16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2475" y="27336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4562475" y="3409950"/>
            <a:ext cx="32204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Limpieza &amp; Calidad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4562475" y="3790950"/>
            <a:ext cx="306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Control de duplicados por id_muestra, parseo de fechas de agregado, manejo de nulos y remoción de variables no confiables.</a:t>
            </a:r>
            <a:endParaRPr/>
          </a:p>
        </p:txBody>
      </p:sp>
      <p:pic>
        <p:nvPicPr>
          <p:cNvPr descr="image.png" id="164" name="Google Shape;164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5325" y="27336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5"/>
          <p:cNvSpPr txBox="1"/>
          <p:nvPr/>
        </p:nvSpPr>
        <p:spPr>
          <a:xfrm>
            <a:off x="8315325" y="3409950"/>
            <a:ext cx="32204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Variables Derivadas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8315325" y="3790950"/>
            <a:ext cx="306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Extracción de</a:t>
            </a:r>
            <a:r>
              <a:rPr lang="en-US" sz="12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genero_principal, cálculo de ROI para películas con métricas financieras válidas.</a:t>
            </a:r>
            <a:endParaRPr/>
          </a:p>
        </p:txBody>
      </p:sp>
      <p:pic>
        <p:nvPicPr>
          <p:cNvPr descr="image.png" id="167" name="Google Shape;16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" y="28479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57725" y="284797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67725" y="2847975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 txBox="1"/>
          <p:nvPr/>
        </p:nvSpPr>
        <p:spPr>
          <a:xfrm>
            <a:off x="571500" y="476250"/>
            <a:ext cx="1160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Integración de Fuentes de Datos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2687" y="1966912"/>
            <a:ext cx="5357812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571500" y="1966912"/>
            <a:ext cx="53578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El análisis exploratorio responde a cuatro interrogantes centrales: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762000" y="2386012"/>
            <a:ext cx="5167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Evolución Temporal: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¿Cómo evoluciona la cantidad de estrenos por año en la plataforma?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762050" y="3074662"/>
            <a:ext cx="516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Concentración: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¿Qué géneros concentran el mayor volumen del catálogo?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762000" y="3490912"/>
            <a:ext cx="5167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Percepción y Engagement: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¿Existe relación directa entre popularidad y puntuación promedio?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762000" y="4043362"/>
            <a:ext cx="5167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Desempeño Financiero: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 películas, ¿cuál es la relación entre presupuesto, ingresos y retorno (ROI)?</a:t>
            </a:r>
            <a:endParaRPr/>
          </a:p>
        </p:txBody>
      </p:sp>
      <p:pic>
        <p:nvPicPr>
          <p:cNvPr descr="image.png" id="182" name="Google Shape;18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1966912"/>
            <a:ext cx="5357812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571500" y="23669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571500" y="3043751"/>
            <a:ext cx="190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571500" y="34718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571500" y="40243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571500" y="476250"/>
            <a:ext cx="1160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Preguntas Analíticas Clave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6487"/>
            <a:ext cx="5357812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2376487"/>
            <a:ext cx="5357812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 txBox="1"/>
          <p:nvPr/>
        </p:nvSpPr>
        <p:spPr>
          <a:xfrm>
            <a:off x="847725" y="2652712"/>
            <a:ext cx="50456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Selección por Tipo de Dato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847725" y="3014662"/>
            <a:ext cx="4805362" cy="190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6538912" y="2652712"/>
            <a:ext cx="50456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Atributos &amp; Carga Cognitiva</a:t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6538912" y="3014662"/>
            <a:ext cx="4805362" cy="190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1038225" y="3148012"/>
            <a:ext cx="46148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Barras Horizontales: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Ranking de Top 10 géneros y países para fácil legibilidad comparativa.</a:t>
            </a:r>
            <a:endParaRPr/>
          </a:p>
        </p:txBody>
      </p:sp>
      <p:sp>
        <p:nvSpPr>
          <p:cNvPr id="200" name="Google Shape;200;p7"/>
          <p:cNvSpPr txBox="1"/>
          <p:nvPr/>
        </p:nvSpPr>
        <p:spPr>
          <a:xfrm>
            <a:off x="1038225" y="3700462"/>
            <a:ext cx="46148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Líneas/Áreas: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Tendencia y crecimiento temporal por año de estreno.</a:t>
            </a:r>
            <a:endParaRPr/>
          </a:p>
        </p:txBody>
      </p:sp>
      <p:sp>
        <p:nvSpPr>
          <p:cNvPr id="201" name="Google Shape;201;p7"/>
          <p:cNvSpPr txBox="1"/>
          <p:nvPr/>
        </p:nvSpPr>
        <p:spPr>
          <a:xfrm>
            <a:off x="1038225" y="4024312"/>
            <a:ext cx="46148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Dispersión: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Relación continua entre popularidad, valoraciones y finanzas.</a:t>
            </a:r>
            <a:endParaRPr/>
          </a:p>
        </p:txBody>
      </p:sp>
      <p:sp>
        <p:nvSpPr>
          <p:cNvPr id="202" name="Google Shape;202;p7"/>
          <p:cNvSpPr txBox="1"/>
          <p:nvPr/>
        </p:nvSpPr>
        <p:spPr>
          <a:xfrm>
            <a:off x="1038225" y="4576762"/>
            <a:ext cx="46148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Tarjetas KPI: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Síntesis ejecutiva de métricas críticas.</a:t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6729412" y="3148012"/>
            <a:ext cx="46148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Codificación de Color: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Uso semántico sobrio (Película vs Serie) con acentos de alto contraste.</a:t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6729412" y="3700462"/>
            <a:ext cx="46148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Organización por Bloques: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Orden jerárquico (KPIs → Tendencias → Comparativos → Detalle).</a:t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6729412" y="4252912"/>
            <a:ext cx="46148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Filtros Globales: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Interacción consistente sin elementos decorativos distractores.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847725" y="31289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847725" y="36814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847725" y="40052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847725" y="45577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0" name="Google Shape;210;p7"/>
          <p:cNvSpPr txBox="1"/>
          <p:nvPr/>
        </p:nvSpPr>
        <p:spPr>
          <a:xfrm>
            <a:off x="6538912" y="31289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6538912" y="36814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6538912" y="42338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571500" y="476250"/>
            <a:ext cx="1160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Estrategia de Visualización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 txBox="1"/>
          <p:nvPr/>
        </p:nvSpPr>
        <p:spPr>
          <a:xfrm>
            <a:off x="571500" y="476250"/>
            <a:ext cx="1160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Gerencia de Contenidos</a:t>
            </a:r>
            <a:endParaRPr b="1" sz="24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9" name="Google Shape;21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250" y="1349550"/>
            <a:ext cx="10729276" cy="395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a6d27de26_0_101"/>
          <p:cNvSpPr txBox="1"/>
          <p:nvPr/>
        </p:nvSpPr>
        <p:spPr>
          <a:xfrm>
            <a:off x="590400" y="174225"/>
            <a:ext cx="1160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Gerencia de Contenidos</a:t>
            </a:r>
            <a:endParaRPr b="1" sz="24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5" name="Google Shape;225;g3fa6d27de26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750" y="659100"/>
            <a:ext cx="11214500" cy="31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fa6d27de26_0_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750" y="3964575"/>
            <a:ext cx="8638800" cy="2797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g3fa6d27de26_0_101"/>
          <p:cNvGrpSpPr/>
          <p:nvPr/>
        </p:nvGrpSpPr>
        <p:grpSpPr>
          <a:xfrm>
            <a:off x="9587820" y="4273653"/>
            <a:ext cx="2115530" cy="1674045"/>
            <a:chOff x="1116575" y="5510975"/>
            <a:chExt cx="1374078" cy="1087325"/>
          </a:xfrm>
        </p:grpSpPr>
        <p:pic>
          <p:nvPicPr>
            <p:cNvPr descr="image.png" id="228" name="Google Shape;228;g3fa6d27de26_0_10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16575" y="5510975"/>
              <a:ext cx="1373949" cy="108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g3fa6d27de26_0_101"/>
            <p:cNvSpPr txBox="1"/>
            <p:nvPr/>
          </p:nvSpPr>
          <p:spPr>
            <a:xfrm>
              <a:off x="1244753" y="5639150"/>
              <a:ext cx="1098600" cy="10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72">
                  <a:solidFill>
                    <a:srgbClr val="0369A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Metrica aplicada</a:t>
              </a:r>
              <a:endParaRPr sz="1000"/>
            </a:p>
          </p:txBody>
        </p:sp>
        <p:sp>
          <p:nvSpPr>
            <p:cNvPr id="230" name="Google Shape;230;g3fa6d27de26_0_101"/>
            <p:cNvSpPr txBox="1"/>
            <p:nvPr/>
          </p:nvSpPr>
          <p:spPr>
            <a:xfrm>
              <a:off x="1244753" y="5869000"/>
              <a:ext cx="1245900" cy="4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50 % popularidad relativa.</a:t>
              </a:r>
              <a:endParaRPr sz="1018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5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50 % rating relativo.</a:t>
              </a:r>
              <a:endParaRPr sz="1018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5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Mínimo 20 votos por título.</a:t>
              </a:r>
              <a:endParaRPr sz="1018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g3fa6d27de26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550" y="898775"/>
            <a:ext cx="2392810" cy="232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g3fa6d27de26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8040" y="1104265"/>
            <a:ext cx="460297" cy="46029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fa6d27de26_0_2"/>
          <p:cNvSpPr txBox="1"/>
          <p:nvPr/>
        </p:nvSpPr>
        <p:spPr>
          <a:xfrm>
            <a:off x="1369515" y="1687857"/>
            <a:ext cx="21810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4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</a:t>
            </a:r>
            <a:r>
              <a:rPr lang="en-US" sz="1294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Priorizar adquisiciones</a:t>
            </a:r>
            <a:endParaRPr sz="1294">
              <a:solidFill>
                <a:srgbClr val="0284C7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38" name="Google Shape;238;g3fa6d27de26_0_2"/>
          <p:cNvSpPr txBox="1"/>
          <p:nvPr/>
        </p:nvSpPr>
        <p:spPr>
          <a:xfrm>
            <a:off x="1369515" y="2016641"/>
            <a:ext cx="21810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Evaluar nuevas adquisiciones en Soap, que presenta la mayor popularidad promedio entre los géneros con evidencia suficiente (169.72; 339 títulos).</a:t>
            </a:r>
            <a:endParaRPr sz="1036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239" name="Google Shape;239;g3fa6d27de26_0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6653" y="1202900"/>
            <a:ext cx="263027" cy="26302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fa6d27de26_0_2"/>
          <p:cNvSpPr txBox="1"/>
          <p:nvPr/>
        </p:nvSpPr>
        <p:spPr>
          <a:xfrm>
            <a:off x="590400" y="292100"/>
            <a:ext cx="1160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Recomendaciones de negocio Series </a:t>
            </a:r>
            <a:endParaRPr b="1" sz="24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image.png" id="241" name="Google Shape;241;g3fa6d27de26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1740" y="898775"/>
            <a:ext cx="2392810" cy="232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g3fa6d27de26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7230" y="1104265"/>
            <a:ext cx="460297" cy="46029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fa6d27de26_0_2"/>
          <p:cNvSpPr txBox="1"/>
          <p:nvPr/>
        </p:nvSpPr>
        <p:spPr>
          <a:xfrm>
            <a:off x="4228705" y="1687857"/>
            <a:ext cx="21810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4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Producir con foco</a:t>
            </a:r>
            <a:endParaRPr sz="1294">
              <a:solidFill>
                <a:srgbClr val="0284C7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4" name="Google Shape;244;g3fa6d27de26_0_2"/>
          <p:cNvSpPr txBox="1"/>
          <p:nvPr/>
        </p:nvSpPr>
        <p:spPr>
          <a:xfrm>
            <a:off x="4228705" y="2016641"/>
            <a:ext cx="21810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Considerar Portugal como mercado atractivo por popularidad promedio (172.30) y evidencia suficiente (89 títulos); no es u</a:t>
            </a:r>
            <a:r>
              <a:rPr lang="en-US" sz="103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 recomendación por volumen.</a:t>
            </a:r>
            <a:endParaRPr sz="1036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245" name="Google Shape;245;g3fa6d27de26_0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5844" y="1202900"/>
            <a:ext cx="263027" cy="263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g3fa6d27de26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5669" y="898775"/>
            <a:ext cx="2392810" cy="232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g3fa6d27de26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1159" y="1104265"/>
            <a:ext cx="460297" cy="460297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fa6d27de26_0_2"/>
          <p:cNvSpPr txBox="1"/>
          <p:nvPr/>
        </p:nvSpPr>
        <p:spPr>
          <a:xfrm>
            <a:off x="7232634" y="1687857"/>
            <a:ext cx="23259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4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Promocionar con criterio</a:t>
            </a:r>
            <a:endParaRPr sz="1294">
              <a:solidFill>
                <a:srgbClr val="0284C7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9" name="Google Shape;249;g3fa6d27de26_0_2"/>
          <p:cNvSpPr txBox="1"/>
          <p:nvPr/>
        </p:nvSpPr>
        <p:spPr>
          <a:xfrm>
            <a:off x="7232634" y="2016641"/>
            <a:ext cx="21810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Priorizar campañas para Solo Leveling, Incognito, Reacher, los títulos con mayor popularidad dentro del género Action &amp; Adventure.</a:t>
            </a:r>
            <a:endParaRPr sz="1036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250" name="Google Shape;250;g3fa6d27de26_0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9773" y="1202900"/>
            <a:ext cx="263027" cy="263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g3fa6d27de26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550" y="4308200"/>
            <a:ext cx="2392815" cy="232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g3fa6d27de26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8040" y="4513690"/>
            <a:ext cx="460298" cy="46029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fa6d27de26_0_2"/>
          <p:cNvSpPr txBox="1"/>
          <p:nvPr/>
        </p:nvSpPr>
        <p:spPr>
          <a:xfrm>
            <a:off x="1369515" y="5097282"/>
            <a:ext cx="21813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4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Priorizar adquisiciones</a:t>
            </a:r>
            <a:endParaRPr sz="1294">
              <a:solidFill>
                <a:srgbClr val="0284C7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4" name="Google Shape;254;g3fa6d27de26_0_2"/>
          <p:cNvSpPr txBox="1"/>
          <p:nvPr/>
        </p:nvSpPr>
        <p:spPr>
          <a:xfrm>
            <a:off x="1369515" y="5426066"/>
            <a:ext cx="21813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Evaluar nuevas adquisiciones en Animacion, que equilibra popularidad (28.91) y rating (6.76) entre los géneros con evidencia suficiente (1,117 títulos).</a:t>
            </a:r>
            <a:endParaRPr sz="1036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255" name="Google Shape;255;g3fa6d27de26_0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6654" y="4612325"/>
            <a:ext cx="263027" cy="263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g3fa6d27de26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1747" y="4308200"/>
            <a:ext cx="2392815" cy="232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g3fa6d27de26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7238" y="4513690"/>
            <a:ext cx="460298" cy="46029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fa6d27de26_0_2"/>
          <p:cNvSpPr txBox="1"/>
          <p:nvPr/>
        </p:nvSpPr>
        <p:spPr>
          <a:xfrm>
            <a:off x="4228712" y="5097282"/>
            <a:ext cx="21813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4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Producir con foco</a:t>
            </a:r>
            <a:endParaRPr sz="1294">
              <a:solidFill>
                <a:srgbClr val="0284C7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9" name="Google Shape;259;g3fa6d27de26_0_2"/>
          <p:cNvSpPr txBox="1"/>
          <p:nvPr/>
        </p:nvSpPr>
        <p:spPr>
          <a:xfrm>
            <a:off x="4228712" y="5426066"/>
            <a:ext cx="21813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Considerar producciones de Mexico por su equilibrio entre popularidad (19.77) y rating (6.81), con evidencia suficiente (189 títulos).</a:t>
            </a:r>
            <a:endParaRPr sz="1036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260" name="Google Shape;260;g3fa6d27de26_0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5852" y="4612325"/>
            <a:ext cx="263027" cy="263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g3fa6d27de26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5683" y="4308200"/>
            <a:ext cx="2392815" cy="232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g3fa6d27de26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1174" y="4513690"/>
            <a:ext cx="460298" cy="460298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fa6d27de26_0_2"/>
          <p:cNvSpPr txBox="1"/>
          <p:nvPr/>
        </p:nvSpPr>
        <p:spPr>
          <a:xfrm>
            <a:off x="7232648" y="5097282"/>
            <a:ext cx="23259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4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Promocionar con criterio</a:t>
            </a:r>
            <a:endParaRPr sz="1294">
              <a:solidFill>
                <a:srgbClr val="0284C7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64" name="Google Shape;264;g3fa6d27de26_0_2"/>
          <p:cNvSpPr txBox="1"/>
          <p:nvPr/>
        </p:nvSpPr>
        <p:spPr>
          <a:xfrm>
            <a:off x="7232648" y="5426066"/>
            <a:ext cx="21813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6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Priorizar campañas para Flow, The Wild Robot, Spider-Man: Across the Spider-Verse, los títulos con mayor popularidad dentro del género Animacion.</a:t>
            </a:r>
            <a:endParaRPr sz="1036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265" name="Google Shape;265;g3fa6d27de26_0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9788" y="4612325"/>
            <a:ext cx="263027" cy="26302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fa6d27de26_0_2"/>
          <p:cNvSpPr txBox="1"/>
          <p:nvPr/>
        </p:nvSpPr>
        <p:spPr>
          <a:xfrm>
            <a:off x="295200" y="3701663"/>
            <a:ext cx="1160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Recomendaciones de negocio Peliculas</a:t>
            </a:r>
            <a:endParaRPr b="1" sz="24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2" name="Google Shape;272;p11"/>
          <p:cNvGraphicFramePr/>
          <p:nvPr/>
        </p:nvGraphicFramePr>
        <p:xfrm>
          <a:off x="571500" y="23479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{B652C888-B50F-4CA0-ABB5-29482900B6CD}</a:tableStyleId>
              </a:tblPr>
              <a:tblGrid>
                <a:gridCol w="2757475"/>
                <a:gridCol w="4081025"/>
                <a:gridCol w="4191450"/>
              </a:tblGrid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Dimensión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Fortalezas Solución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Limitaciones &amp; Oportunidades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Integración de Datos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Limpieza ETL con trazabilidad técnica y unificación de criterios de cálculo.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Inexistencia de variables financieras para el segmento de Series de TV.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Calidad e Información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Deduplicación rigurosa por ID y manejo explícito de nulos.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Cobertura desigual en datos secundarios (ej. directores en series).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Uso Estratégico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Alineación clara entre objetivos de negocio y vistas ejecutivas.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Oportunidad:</a:t>
                      </a: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Incorporar métricas de consumo real (horas vistas).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3" name="Google Shape;273;p11"/>
          <p:cNvSpPr/>
          <p:nvPr/>
        </p:nvSpPr>
        <p:spPr>
          <a:xfrm>
            <a:off x="581025" y="365283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3338512" y="3652837"/>
            <a:ext cx="40810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7419528" y="3652837"/>
            <a:ext cx="41914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581025" y="442436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3338512" y="4424362"/>
            <a:ext cx="40810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7419528" y="4424362"/>
            <a:ext cx="41914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 txBox="1"/>
          <p:nvPr/>
        </p:nvSpPr>
        <p:spPr>
          <a:xfrm>
            <a:off x="571500" y="476250"/>
            <a:ext cx="1160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Evaluación Crítica de la Solución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